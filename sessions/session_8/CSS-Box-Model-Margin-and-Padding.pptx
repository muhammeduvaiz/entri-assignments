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9" r:id="rId2"/>
  </p:sldMasterIdLst>
  <p:notesMasterIdLst>
    <p:notesMasterId r:id="rId12"/>
  </p:notesMasterIdLst>
  <p:sldIdLst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4630400" cy="10350500"/>
  <p:notesSz cx="10350500" cy="14630400"/>
  <p:embeddedFontLst>
    <p:embeddedFont>
      <p:font typeface="Alexandria Semi Bold" panose="020B0604020202020204" charset="-78"/>
      <p:regular r:id="rId13"/>
    </p:embeddedFont>
    <p:embeddedFont>
      <p:font typeface="Lexend" panose="020B0604020202020204" charset="0"/>
      <p:regular r:id="rId14"/>
      <p:bold r:id="rId15"/>
    </p:embeddedFont>
    <p:embeddedFont>
      <p:font typeface="Sora Light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69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105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Google Shape;2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5573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9870103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9870103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9870103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9870103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9870103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9870103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9870103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9870103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1548" y="0"/>
            <a:ext cx="14627185" cy="10350163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9870103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721960" y="1997203"/>
            <a:ext cx="9534240" cy="23701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Lexend"/>
              <a:buNone/>
              <a:defRPr sz="5280" b="1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721960" y="7060969"/>
            <a:ext cx="9534240" cy="986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xend"/>
              <a:buNone/>
              <a:defRPr sz="4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3443213" y="370356"/>
            <a:ext cx="877920" cy="79205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4134664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89200" y="2365714"/>
            <a:ext cx="9342720" cy="115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06000" y="3983690"/>
            <a:ext cx="9625920" cy="5210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3555933" y="9384005"/>
            <a:ext cx="877920" cy="792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600">
                <a:solidFill>
                  <a:schemeClr val="dk2"/>
                </a:solidFill>
              </a:defRPr>
            </a:lvl1pPr>
            <a:lvl2pPr lvl="1" algn="r">
              <a:buNone/>
              <a:defRPr sz="1600">
                <a:solidFill>
                  <a:schemeClr val="dk2"/>
                </a:solidFill>
              </a:defRPr>
            </a:lvl2pPr>
            <a:lvl3pPr lvl="2" algn="r">
              <a:buNone/>
              <a:defRPr sz="1600">
                <a:solidFill>
                  <a:schemeClr val="dk2"/>
                </a:solidFill>
              </a:defRPr>
            </a:lvl3pPr>
            <a:lvl4pPr lvl="3" algn="r">
              <a:buNone/>
              <a:defRPr sz="1600">
                <a:solidFill>
                  <a:schemeClr val="dk2"/>
                </a:solidFill>
              </a:defRPr>
            </a:lvl4pPr>
            <a:lvl5pPr lvl="4" algn="r">
              <a:buNone/>
              <a:defRPr sz="1600">
                <a:solidFill>
                  <a:schemeClr val="dk2"/>
                </a:solidFill>
              </a:defRPr>
            </a:lvl5pPr>
            <a:lvl6pPr lvl="5" algn="r">
              <a:buNone/>
              <a:defRPr sz="1600">
                <a:solidFill>
                  <a:schemeClr val="dk2"/>
                </a:solidFill>
              </a:defRPr>
            </a:lvl6pPr>
            <a:lvl7pPr lvl="6" algn="r">
              <a:buNone/>
              <a:defRPr sz="1600">
                <a:solidFill>
                  <a:schemeClr val="dk2"/>
                </a:solidFill>
              </a:defRPr>
            </a:lvl7pPr>
            <a:lvl8pPr lvl="7" algn="r">
              <a:buNone/>
              <a:defRPr sz="1600">
                <a:solidFill>
                  <a:schemeClr val="dk2"/>
                </a:solidFill>
              </a:defRPr>
            </a:lvl8pPr>
            <a:lvl9pPr lvl="8" algn="r">
              <a:buNone/>
              <a:defRPr sz="16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38208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ctrTitle"/>
          </p:nvPr>
        </p:nvSpPr>
        <p:spPr>
          <a:xfrm>
            <a:off x="4721960" y="3187770"/>
            <a:ext cx="9409920" cy="188448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>
              <a:buSzPts val="990"/>
            </a:pPr>
            <a:r>
              <a:rPr lang="en-US" sz="5400" dirty="0">
                <a:solidFill>
                  <a:srgbClr val="1F1E1E"/>
                </a:solidFill>
                <a:latin typeface="Lexend" panose="020B0604020202020204" charset="0"/>
                <a:ea typeface="Alexandria Semi Bold" pitchFamily="34" charset="-122"/>
                <a:cs typeface="Lexend" panose="020B0604020202020204" charset="0"/>
              </a:rPr>
              <a:t>CSS Box Model: Margin and Padding</a:t>
            </a:r>
            <a:endParaRPr lang="en" dirty="0">
              <a:solidFill>
                <a:schemeClr val="accent6"/>
              </a:solidFill>
              <a:latin typeface="Lexend" panose="020B0604020202020204" charset="0"/>
              <a:cs typeface="Lexend" panose="020B0604020202020204" charset="0"/>
              <a:sym typeface="Lexend"/>
            </a:endParaRPr>
          </a:p>
        </p:txBody>
      </p:sp>
      <p:sp>
        <p:nvSpPr>
          <p:cNvPr id="30" name="Google Shape;30;p7"/>
          <p:cNvSpPr txBox="1">
            <a:spLocks noGrp="1"/>
          </p:cNvSpPr>
          <p:nvPr>
            <p:ph type="subTitle" idx="1"/>
          </p:nvPr>
        </p:nvSpPr>
        <p:spPr>
          <a:xfrm>
            <a:off x="4721960" y="6674570"/>
            <a:ext cx="9534240" cy="784320"/>
          </a:xfrm>
          <a:prstGeom prst="rect">
            <a:avLst/>
          </a:prstGeom>
        </p:spPr>
        <p:txBody>
          <a:bodyPr spcFirstLastPara="1" wrap="square" lIns="146280" tIns="146280" rIns="146280" bIns="146280" anchor="t" anchorCtr="0">
            <a:noAutofit/>
          </a:bodyPr>
          <a:lstStyle/>
          <a:p>
            <a:pPr marL="0" indent="0">
              <a:lnSpc>
                <a:spcPct val="80000"/>
              </a:lnSpc>
              <a:buSzPts val="852"/>
            </a:pPr>
            <a:r>
              <a:rPr lang="en" sz="4040" dirty="0"/>
              <a:t>NIJAS KHAN</a:t>
            </a:r>
            <a:endParaRPr sz="4040" dirty="0"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3443213" y="1354917"/>
            <a:ext cx="877920" cy="629760"/>
          </a:xfrm>
          <a:prstGeom prst="rect">
            <a:avLst/>
          </a:prstGeom>
        </p:spPr>
        <p:txBody>
          <a:bodyPr spcFirstLastPara="1" wrap="square" lIns="146280" tIns="146280" rIns="146280" bIns="146280" anchor="ctr" anchorCtr="0">
            <a:normAutofit/>
          </a:bodyPr>
          <a:lstStyle/>
          <a:p>
            <a:fld id="{00000000-1234-1234-1234-123412341234}" type="slidenum">
              <a:rPr lang="en"/>
              <a:p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477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61439" y="3287717"/>
            <a:ext cx="8659892" cy="712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Understanding the Box Model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9619" y="4898440"/>
            <a:ext cx="3403640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Conceptual Foundation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9619" y="5471372"/>
            <a:ext cx="6291263" cy="1039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CSS box model represents every HTML element as a rectangular box. Each box is composed of four distinct areas: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6901" y="4898440"/>
            <a:ext cx="3029307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Visualizing Elements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6901" y="5471372"/>
            <a:ext cx="6291263" cy="69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model provides a structured way to control the size, spacing, and appearance of elements on a web page.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" y="0"/>
            <a:ext cx="5485090" cy="1035016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7" y="3438658"/>
            <a:ext cx="5319212" cy="36231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0"/>
          <p:cNvSpPr/>
          <p:nvPr/>
        </p:nvSpPr>
        <p:spPr>
          <a:xfrm>
            <a:off x="6244709" y="2595281"/>
            <a:ext cx="7625834" cy="1425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Content, Padding, Border, Margin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6244709" y="4589407"/>
            <a:ext cx="378976" cy="379057"/>
          </a:xfrm>
          <a:prstGeom prst="roundRect">
            <a:avLst>
              <a:gd name="adj" fmla="val 2400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840260" y="4589407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Content Area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840260" y="5075643"/>
            <a:ext cx="3109079" cy="1039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actual content of the element, such as text or images.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10165913" y="4589407"/>
            <a:ext cx="378976" cy="379057"/>
          </a:xfrm>
          <a:prstGeom prst="roundRect">
            <a:avLst>
              <a:gd name="adj" fmla="val 2400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761464" y="4589407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Padding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761464" y="5075643"/>
            <a:ext cx="3109079" cy="69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Clear space around the content, inside the border.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244709" y="6575555"/>
            <a:ext cx="378976" cy="379057"/>
          </a:xfrm>
          <a:prstGeom prst="roundRect">
            <a:avLst>
              <a:gd name="adj" fmla="val 2400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40260" y="6575555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Border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840260" y="7061790"/>
            <a:ext cx="3109079" cy="69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line that surrounds the content and padding.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10165913" y="6575555"/>
            <a:ext cx="378976" cy="379057"/>
          </a:xfrm>
          <a:prstGeom prst="roundRect">
            <a:avLst>
              <a:gd name="adj" fmla="val 2400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761464" y="6575555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Margin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0761464" y="7061790"/>
            <a:ext cx="3109079" cy="69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Clear space around the element, outside the border.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619" y="2633151"/>
            <a:ext cx="8360093" cy="712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Margin Properties and Usage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9619" y="3670883"/>
            <a:ext cx="4226004" cy="2548123"/>
          </a:xfrm>
          <a:prstGeom prst="roundRect">
            <a:avLst>
              <a:gd name="adj" fmla="val 357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3813" y="3895125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Margin Properties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83813" y="4381361"/>
            <a:ext cx="3777615" cy="346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margin-top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83813" y="4803647"/>
            <a:ext cx="3777615" cy="346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margin-right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3813" y="5225932"/>
            <a:ext cx="3777615" cy="346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margin-bottom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3813" y="5648218"/>
            <a:ext cx="3777615" cy="346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margin-left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202198" y="3670883"/>
            <a:ext cx="4226004" cy="2548123"/>
          </a:xfrm>
          <a:prstGeom prst="roundRect">
            <a:avLst>
              <a:gd name="adj" fmla="val 357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26393" y="3895125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Common Usage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26393" y="4381361"/>
            <a:ext cx="3777615" cy="69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Spacing between elements, creating visual separation.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44777" y="3670883"/>
            <a:ext cx="4226004" cy="2548123"/>
          </a:xfrm>
          <a:prstGeom prst="roundRect">
            <a:avLst>
              <a:gd name="adj" fmla="val 357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68972" y="3895125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Shorthand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68972" y="4381361"/>
            <a:ext cx="3777615" cy="69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margin: 10px; (sets all margins to 10px)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9619" y="6435626"/>
            <a:ext cx="13111043" cy="1281266"/>
          </a:xfrm>
          <a:prstGeom prst="roundRect">
            <a:avLst>
              <a:gd name="adj" fmla="val 710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3813" y="6659869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Auto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3813" y="7146104"/>
            <a:ext cx="12662654" cy="346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margin: auto; (centers the element)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619" y="3227281"/>
            <a:ext cx="8754547" cy="712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Padding Properties and Usage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19" y="4265012"/>
            <a:ext cx="541496" cy="5416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619" y="5023244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Padding Properties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619" y="5509480"/>
            <a:ext cx="4153733" cy="346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padding-top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9619" y="5931766"/>
            <a:ext cx="4153733" cy="346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padding-right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9619" y="6354051"/>
            <a:ext cx="4153733" cy="346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padding-bottom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9619" y="6776337"/>
            <a:ext cx="4153733" cy="346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padding-left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274" y="4265012"/>
            <a:ext cx="541496" cy="5416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8274" y="5023244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Common Usage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238274" y="5509480"/>
            <a:ext cx="4153733" cy="69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Creating space around the content inside the border.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6929" y="4265012"/>
            <a:ext cx="541496" cy="5416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16929" y="5023244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Shorthand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716929" y="5509480"/>
            <a:ext cx="4153733" cy="69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padding: 10px; (sets all padding to 10px)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619" y="3243238"/>
            <a:ext cx="10394871" cy="712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Margin Collapse and Considerations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9619" y="4605961"/>
            <a:ext cx="13111043" cy="30486"/>
          </a:xfrm>
          <a:prstGeom prst="roundRect">
            <a:avLst>
              <a:gd name="adj" fmla="val 298428"/>
            </a:avLst>
          </a:prstGeom>
          <a:solidFill>
            <a:srgbClr val="BBC2DC"/>
          </a:solidFill>
          <a:ln/>
        </p:spPr>
      </p:sp>
      <p:sp>
        <p:nvSpPr>
          <p:cNvPr id="4" name="Shape 2"/>
          <p:cNvSpPr/>
          <p:nvPr/>
        </p:nvSpPr>
        <p:spPr>
          <a:xfrm>
            <a:off x="2857143" y="4605901"/>
            <a:ext cx="30480" cy="758232"/>
          </a:xfrm>
          <a:prstGeom prst="roundRect">
            <a:avLst>
              <a:gd name="adj" fmla="val 298487"/>
            </a:avLst>
          </a:prstGeom>
          <a:solidFill>
            <a:srgbClr val="BBC2DC"/>
          </a:solidFill>
          <a:ln/>
        </p:spPr>
      </p:sp>
      <p:sp>
        <p:nvSpPr>
          <p:cNvPr id="5" name="Shape 3"/>
          <p:cNvSpPr/>
          <p:nvPr/>
        </p:nvSpPr>
        <p:spPr>
          <a:xfrm>
            <a:off x="2628781" y="4362247"/>
            <a:ext cx="487323" cy="487427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05232" y="4434891"/>
            <a:ext cx="134422" cy="342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447443" y="5580933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Margin Collapse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76193" y="6067169"/>
            <a:ext cx="3792736" cy="1039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When margins of adjacent elements touch, they collapse into a single margin.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299722" y="4605901"/>
            <a:ext cx="30480" cy="758232"/>
          </a:xfrm>
          <a:prstGeom prst="roundRect">
            <a:avLst>
              <a:gd name="adj" fmla="val 298487"/>
            </a:avLst>
          </a:prstGeom>
          <a:solidFill>
            <a:srgbClr val="BB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7071360" y="4362247"/>
            <a:ext cx="487323" cy="487427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12925" y="4434891"/>
            <a:ext cx="204192" cy="342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5890022" y="5580933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Impact on Layout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18653" y="6067169"/>
            <a:ext cx="3792855" cy="69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Can affect spacing between elements unexpectedly.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1742301" y="4605901"/>
            <a:ext cx="30480" cy="758232"/>
          </a:xfrm>
          <a:prstGeom prst="roundRect">
            <a:avLst>
              <a:gd name="adj" fmla="val 298487"/>
            </a:avLst>
          </a:prstGeom>
          <a:solidFill>
            <a:srgbClr val="BB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13939" y="4362247"/>
            <a:ext cx="487323" cy="487427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55266" y="4434891"/>
            <a:ext cx="204549" cy="342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0332601" y="5580933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Solutions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61233" y="6067169"/>
            <a:ext cx="3792855" cy="69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 padding or other techniques to control margin behavior.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619" y="3189173"/>
            <a:ext cx="8051244" cy="712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Controlling Box Dimensions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19" y="4226904"/>
            <a:ext cx="4370308" cy="8666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193" y="5418497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Width and Height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76193" y="5904733"/>
            <a:ext cx="3937159" cy="69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Control the size of the box using width and height properties.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927" y="4226904"/>
            <a:ext cx="4370308" cy="8666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46502" y="5418497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Box Sizing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46502" y="5904733"/>
            <a:ext cx="3937159" cy="1039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box-sizing property controls how padding and border affect width and height.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235" y="4226904"/>
            <a:ext cx="4370308" cy="8666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6810" y="5418497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Responsive Design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6810" y="5904733"/>
            <a:ext cx="3937159" cy="1039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 percentages or viewport units for responsive elements that adjust to screen size.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619" y="2129172"/>
            <a:ext cx="9876234" cy="712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Responsive Design and Box Model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608" y="3275154"/>
            <a:ext cx="2163247" cy="16125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83950" y="4074114"/>
            <a:ext cx="106442" cy="43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335429" y="3491775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Media Queries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35429" y="3978010"/>
            <a:ext cx="8318659" cy="69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Apply different CSS rules based on screen size, device orientation, or other conditions.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172908" y="4899512"/>
            <a:ext cx="8643699" cy="15243"/>
          </a:xfrm>
          <a:prstGeom prst="roundRect">
            <a:avLst>
              <a:gd name="adj" fmla="val 596856"/>
            </a:avLst>
          </a:prstGeom>
          <a:solidFill>
            <a:srgbClr val="BBC2D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044" y="4941788"/>
            <a:ext cx="4326612" cy="16125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56447" y="5531392"/>
            <a:ext cx="161568" cy="43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6417231" y="5158409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Flexbox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17231" y="5644645"/>
            <a:ext cx="7236857" cy="69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Flexible layout model for responsive design. Elements adjust to the available space.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254710" y="6566147"/>
            <a:ext cx="7561898" cy="15243"/>
          </a:xfrm>
          <a:prstGeom prst="roundRect">
            <a:avLst>
              <a:gd name="adj" fmla="val 596856"/>
            </a:avLst>
          </a:prstGeom>
          <a:solidFill>
            <a:srgbClr val="BBC2D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361" y="6608423"/>
            <a:ext cx="6489859" cy="16125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56328" y="7198027"/>
            <a:ext cx="161925" cy="43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7498794" y="6825044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Grid Layout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498794" y="7311279"/>
            <a:ext cx="6155293" cy="69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Structured layout system for creating complex responsive layouts.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619" y="3346369"/>
            <a:ext cx="6414254" cy="712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Putting it All Together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9619" y="4492351"/>
            <a:ext cx="4153733" cy="71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411367" y="5477922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Practice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9619" y="5964158"/>
            <a:ext cx="4153733" cy="1039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Experiment with different properties and values to understand their impact.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238274" y="4492351"/>
            <a:ext cx="4153733" cy="71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890022" y="5477922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Visual Feedback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8274" y="5964158"/>
            <a:ext cx="4153733" cy="1039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Inspect elements in the browser's developer tools to see box model dimensions.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716929" y="4492351"/>
            <a:ext cx="4153733" cy="71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0368677" y="5477922"/>
            <a:ext cx="2850118" cy="35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Resources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716929" y="5964158"/>
            <a:ext cx="4153733" cy="1039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Refer to online tutorials, documentation, and code examples for further guidance.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nking">
  <a:themeElements>
    <a:clrScheme name="Simple Light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45818E"/>
      </a:accent1>
      <a:accent2>
        <a:srgbClr val="3D85C6"/>
      </a:accent2>
      <a:accent3>
        <a:srgbClr val="A64D79"/>
      </a:accent3>
      <a:accent4>
        <a:srgbClr val="B45F06"/>
      </a:accent4>
      <a:accent5>
        <a:srgbClr val="741B47"/>
      </a:accent5>
      <a:accent6>
        <a:srgbClr val="073763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pptA5CF.tmp</Template>
  <TotalTime>8</TotalTime>
  <Words>393</Words>
  <Application>Microsoft Office PowerPoint</Application>
  <PresentationFormat>Custom</PresentationFormat>
  <Paragraphs>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Sora Light</vt:lpstr>
      <vt:lpstr>Lexend</vt:lpstr>
      <vt:lpstr>Alexandria Semi Bold</vt:lpstr>
      <vt:lpstr>Office Theme</vt:lpstr>
      <vt:lpstr>Banking</vt:lpstr>
      <vt:lpstr>CSS Box Model: Margin and Padding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Nijas Khan</cp:lastModifiedBy>
  <cp:revision>3</cp:revision>
  <dcterms:created xsi:type="dcterms:W3CDTF">2025-01-02T15:03:48Z</dcterms:created>
  <dcterms:modified xsi:type="dcterms:W3CDTF">2025-01-02T15:15:36Z</dcterms:modified>
</cp:coreProperties>
</file>