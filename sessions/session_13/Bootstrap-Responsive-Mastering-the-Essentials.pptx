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Lexend Medium" panose="020B0604020202020204" charset="0"/>
      <p:regular r:id="rId12"/>
      <p:bold r:id="rId13"/>
    </p:embeddedFont>
    <p:embeddedFont>
      <p:font typeface="Lexend Semi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11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793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46985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434343"/>
                </a:solidFill>
                <a:latin typeface="Lexend Semi Bold" pitchFamily="34" charset="0"/>
                <a:ea typeface="Lexend Semi Bold" pitchFamily="34" charset="-122"/>
                <a:cs typeface="Lexend Semi Bold" pitchFamily="34" charset="-120"/>
              </a:rPr>
              <a:t>Bootstrap Responsive: Mastering the Essentials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751897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E699E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This presentation will explore key concepts in Bootstrap responsive web design, providing insights into maximizing user experience across various devices.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5302568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027309" y="5302568"/>
            <a:ext cx="2809301" cy="725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4400" b="1" dirty="0">
                <a:solidFill>
                  <a:srgbClr val="2E699E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Nijas Khan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77058"/>
            <a:ext cx="878990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434343"/>
                </a:solidFill>
                <a:latin typeface="Lexend Semi Bold" pitchFamily="34" charset="0"/>
                <a:ea typeface="Lexend Semi Bold" pitchFamily="34" charset="-122"/>
                <a:cs typeface="Lexend Semi Bold" pitchFamily="34" charset="-120"/>
              </a:rPr>
              <a:t>What is Bootstrap Responsive?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4528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434343"/>
                </a:solidFill>
                <a:latin typeface="Lexend Semi Bold" pitchFamily="34" charset="0"/>
                <a:ea typeface="Lexend Semi Bold" pitchFamily="34" charset="-122"/>
                <a:cs typeface="Lexend Semi Bold" pitchFamily="34" charset="-120"/>
              </a:rPr>
              <a:t>Adaptive Design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033957"/>
            <a:ext cx="624470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E699E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Bootstrap Responsive is a powerful framework that allows websites to dynamically adjust their layout and content to fit different screen sizes. It empowers developers to create seamless experiences across desktops, tablets, and mobile devices.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452813"/>
            <a:ext cx="324350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434343"/>
                </a:solidFill>
                <a:latin typeface="Lexend Semi Bold" pitchFamily="34" charset="0"/>
                <a:ea typeface="Lexend Semi Bold" pitchFamily="34" charset="-122"/>
                <a:cs typeface="Lexend Semi Bold" pitchFamily="34" charset="-120"/>
              </a:rPr>
              <a:t>User-Centric Approach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033957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E699E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By embracing a responsive design strategy, web developers prioritize user satisfaction by ensuring optimal readability and navigation regardless of device.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91740"/>
            <a:ext cx="745974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434343"/>
                </a:solidFill>
                <a:latin typeface="Lexend Semi Bold" pitchFamily="34" charset="0"/>
                <a:ea typeface="Lexend Semi Bold" pitchFamily="34" charset="-122"/>
                <a:cs typeface="Lexend Semi Bold" pitchFamily="34" charset="-120"/>
              </a:rPr>
              <a:t>Viewport and Breakpoints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79583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CCDCFF"/>
          </a:solidFill>
          <a:ln w="7620">
            <a:solidFill>
              <a:srgbClr val="B2C2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56667" y="3880842"/>
            <a:ext cx="18442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Lexend Semi Bold" pitchFamily="34" charset="0"/>
                <a:ea typeface="Lexend Semi Bold" pitchFamily="34" charset="-122"/>
                <a:cs typeface="Lexend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1530906" y="37958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2E699E"/>
                </a:solidFill>
                <a:latin typeface="Lexend Semi Bold" pitchFamily="34" charset="0"/>
                <a:ea typeface="Lexend Semi Bold" pitchFamily="34" charset="-122"/>
                <a:cs typeface="Lexend Semi Bold" pitchFamily="34" charset="-120"/>
              </a:rPr>
              <a:t>Viewport Meta Tag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30906" y="4286250"/>
            <a:ext cx="567094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E699E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The viewport meta tag controls the initial zoom level of the webpage and ensures optimal scaling across various devices.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667" y="379583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CCDCFF"/>
          </a:solidFill>
          <a:ln w="7620">
            <a:solidFill>
              <a:srgbClr val="B2C2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90592" y="3880842"/>
            <a:ext cx="186452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Lexend Semi Bold" pitchFamily="34" charset="0"/>
                <a:ea typeface="Lexend Semi Bold" pitchFamily="34" charset="-122"/>
                <a:cs typeface="Lexend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8165783" y="3795832"/>
            <a:ext cx="31987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2E699E"/>
                </a:solidFill>
                <a:latin typeface="Lexend Semi Bold" pitchFamily="34" charset="0"/>
                <a:ea typeface="Lexend Semi Bold" pitchFamily="34" charset="-122"/>
                <a:cs typeface="Lexend Semi Bold" pitchFamily="34" charset="-120"/>
              </a:rPr>
              <a:t>Breakpoint Definitions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165783" y="4286250"/>
            <a:ext cx="56709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E699E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Breakpoints are specific screen widths where the layout transitions to accommodate different device types, ensuring content remains accessible and visually appealing.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40468"/>
            <a:ext cx="579286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434343"/>
                </a:solidFill>
                <a:latin typeface="Lexend Semi Bold" pitchFamily="34" charset="0"/>
                <a:ea typeface="Lexend Semi Bold" pitchFamily="34" charset="-122"/>
                <a:cs typeface="Lexend Semi Bold" pitchFamily="34" charset="-120"/>
              </a:rPr>
              <a:t>Bootstrap Container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889409"/>
            <a:ext cx="4196358" cy="3499604"/>
          </a:xfrm>
          <a:prstGeom prst="roundRect">
            <a:avLst>
              <a:gd name="adj" fmla="val 2722"/>
            </a:avLst>
          </a:prstGeom>
          <a:solidFill>
            <a:srgbClr val="CCDCFF"/>
          </a:solidFill>
          <a:ln w="7620">
            <a:solidFill>
              <a:srgbClr val="B2C2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31238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exend Semi Bold" pitchFamily="34" charset="0"/>
                <a:ea typeface="Lexend Semi Bold" pitchFamily="34" charset="-122"/>
                <a:cs typeface="Lexend Semi Bold" pitchFamily="34" charset="-120"/>
              </a:rPr>
              <a:t>Layout Foundation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3614261"/>
            <a:ext cx="3727490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The Bootstrap container acts as a central container for website content, providing a structured framework for organizing elements. It ensures consistent spacing and alignment across devices.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2889409"/>
            <a:ext cx="4196358" cy="3499604"/>
          </a:xfrm>
          <a:prstGeom prst="roundRect">
            <a:avLst>
              <a:gd name="adj" fmla="val 2722"/>
            </a:avLst>
          </a:prstGeom>
          <a:solidFill>
            <a:srgbClr val="CCDCFF"/>
          </a:solidFill>
          <a:ln w="7620">
            <a:solidFill>
              <a:srgbClr val="B2C2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51396" y="31238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exend Semi Bold" pitchFamily="34" charset="0"/>
                <a:ea typeface="Lexend Semi Bold" pitchFamily="34" charset="-122"/>
                <a:cs typeface="Lexend Semi Bold" pitchFamily="34" charset="-120"/>
              </a:rPr>
              <a:t>Fluid Content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51396" y="3614261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Containers allow content to expand or shrink dynamically based on screen size, ensuring optimal display and readability.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2889409"/>
            <a:ext cx="4196358" cy="3499604"/>
          </a:xfrm>
          <a:prstGeom prst="roundRect">
            <a:avLst>
              <a:gd name="adj" fmla="val 2722"/>
            </a:avLst>
          </a:prstGeom>
          <a:solidFill>
            <a:srgbClr val="CCDCFF"/>
          </a:solidFill>
          <a:ln w="7620">
            <a:solidFill>
              <a:srgbClr val="B2C2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4568" y="31238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exend Semi Bold" pitchFamily="34" charset="0"/>
                <a:ea typeface="Lexend Semi Bold" pitchFamily="34" charset="-122"/>
                <a:cs typeface="Lexend Semi Bold" pitchFamily="34" charset="-120"/>
              </a:rPr>
              <a:t>Vertical Centering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74568" y="3614261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Containers can be used to vertically center content within a page, creating a visually appealing and balanced layout.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03872"/>
            <a:ext cx="646295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434343"/>
                </a:solidFill>
                <a:latin typeface="Lexend Semi Bold" pitchFamily="34" charset="0"/>
                <a:ea typeface="Lexend Semi Bold" pitchFamily="34" charset="-122"/>
                <a:cs typeface="Lexend Semi Bold" pitchFamily="34" charset="-120"/>
              </a:rPr>
              <a:t>Bootstrap Grid System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452813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2466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E699E"/>
                </a:solidFill>
                <a:latin typeface="Lexend Semi Bold" pitchFamily="34" charset="0"/>
                <a:ea typeface="Lexend Semi Bold" pitchFamily="34" charset="-122"/>
                <a:cs typeface="Lexend Semi Bold" pitchFamily="34" charset="-120"/>
              </a:rPr>
              <a:t>Flexible Structure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737021"/>
            <a:ext cx="63512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E699E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Bootstrap's 12-column grid system provides a flexible framework for arranging content, allowing for precise layout control and responsiveness.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5221" y="3452813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85221" y="4246602"/>
            <a:ext cx="293798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E699E"/>
                </a:solidFill>
                <a:latin typeface="Lexend Semi Bold" pitchFamily="34" charset="0"/>
                <a:ea typeface="Lexend Semi Bold" pitchFamily="34" charset="-122"/>
                <a:cs typeface="Lexend Semi Bold" pitchFamily="34" charset="-120"/>
              </a:rPr>
              <a:t>Dynamic Adaptation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485221" y="4737021"/>
            <a:ext cx="635138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E699E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The grid system dynamically adjusts column widths and arrangement based on screen size, ensuring content remains readable and well-organized across devices.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0701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434343"/>
                </a:solidFill>
                <a:latin typeface="Lexend Semi Bold" pitchFamily="34" charset="0"/>
                <a:ea typeface="Lexend Semi Bold" pitchFamily="34" charset="-122"/>
                <a:cs typeface="Lexend Semi Bold" pitchFamily="34" charset="-120"/>
              </a:rPr>
              <a:t>Rows and Columns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1118711" y="2855952"/>
            <a:ext cx="30480" cy="3566517"/>
          </a:xfrm>
          <a:prstGeom prst="roundRect">
            <a:avLst>
              <a:gd name="adj" fmla="val 312558"/>
            </a:avLst>
          </a:prstGeom>
          <a:solidFill>
            <a:srgbClr val="B2C2E5"/>
          </a:solidFill>
          <a:ln/>
        </p:spPr>
      </p:sp>
      <p:sp>
        <p:nvSpPr>
          <p:cNvPr id="4" name="Shape 2"/>
          <p:cNvSpPr/>
          <p:nvPr/>
        </p:nvSpPr>
        <p:spPr>
          <a:xfrm>
            <a:off x="1358622" y="3351014"/>
            <a:ext cx="793790" cy="30480"/>
          </a:xfrm>
          <a:prstGeom prst="roundRect">
            <a:avLst>
              <a:gd name="adj" fmla="val 312558"/>
            </a:avLst>
          </a:prstGeom>
          <a:solidFill>
            <a:srgbClr val="B2C2E5"/>
          </a:solidFill>
          <a:ln/>
        </p:spPr>
      </p:sp>
      <p:sp>
        <p:nvSpPr>
          <p:cNvPr id="5" name="Shape 3"/>
          <p:cNvSpPr/>
          <p:nvPr/>
        </p:nvSpPr>
        <p:spPr>
          <a:xfrm>
            <a:off x="878800" y="311110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CCDCFF"/>
          </a:solidFill>
          <a:ln w="7620">
            <a:solidFill>
              <a:srgbClr val="B2C2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1678" y="3196114"/>
            <a:ext cx="18442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Lexend Semi Bold" pitchFamily="34" charset="0"/>
                <a:ea typeface="Lexend Semi Bold" pitchFamily="34" charset="-122"/>
                <a:cs typeface="Lexend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2381488" y="30827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E699E"/>
                </a:solidFill>
                <a:latin typeface="Lexend Semi Bold" pitchFamily="34" charset="0"/>
                <a:ea typeface="Lexend Semi Bold" pitchFamily="34" charset="-122"/>
                <a:cs typeface="Lexend Semi Bold" pitchFamily="34" charset="-120"/>
              </a:rPr>
              <a:t>Row Structure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381488" y="3573185"/>
            <a:ext cx="1145512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E699E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Rows define horizontal content blocks, containing multiple columns. They ensure consistent alignment of elements within each row.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1358622" y="5247680"/>
            <a:ext cx="793790" cy="30480"/>
          </a:xfrm>
          <a:prstGeom prst="roundRect">
            <a:avLst>
              <a:gd name="adj" fmla="val 312558"/>
            </a:avLst>
          </a:prstGeom>
          <a:solidFill>
            <a:srgbClr val="B2C2E5"/>
          </a:solidFill>
          <a:ln/>
        </p:spPr>
      </p:sp>
      <p:sp>
        <p:nvSpPr>
          <p:cNvPr id="10" name="Shape 8"/>
          <p:cNvSpPr/>
          <p:nvPr/>
        </p:nvSpPr>
        <p:spPr>
          <a:xfrm>
            <a:off x="878800" y="500776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CCDCFF"/>
          </a:solidFill>
          <a:ln w="7620">
            <a:solidFill>
              <a:srgbClr val="B2C2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0725" y="5092779"/>
            <a:ext cx="186452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Lexend Semi Bold" pitchFamily="34" charset="0"/>
                <a:ea typeface="Lexend Semi Bold" pitchFamily="34" charset="-122"/>
                <a:cs typeface="Lexend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12" name="Text 10"/>
          <p:cNvSpPr/>
          <p:nvPr/>
        </p:nvSpPr>
        <p:spPr>
          <a:xfrm>
            <a:off x="2381488" y="49794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E699E"/>
                </a:solidFill>
                <a:latin typeface="Lexend Semi Bold" pitchFamily="34" charset="0"/>
                <a:ea typeface="Lexend Semi Bold" pitchFamily="34" charset="-122"/>
                <a:cs typeface="Lexend Semi Bold" pitchFamily="34" charset="-120"/>
              </a:rPr>
              <a:t>Column Division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381488" y="5469850"/>
            <a:ext cx="1145512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E699E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Columns represent individual sections within a row, allowing for flexible division of content based on the desired layout.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68561"/>
            <a:ext cx="787026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434343"/>
                </a:solidFill>
                <a:latin typeface="Lexend Semi Bold" pitchFamily="34" charset="0"/>
                <a:ea typeface="Lexend Semi Bold" pitchFamily="34" charset="-122"/>
                <a:cs typeface="Lexend Semi Bold" pitchFamily="34" charset="-120"/>
              </a:rPr>
              <a:t>Responsive Design Patterns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917502"/>
            <a:ext cx="1134070" cy="18145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68022" y="21443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E699E"/>
                </a:solidFill>
                <a:latin typeface="Lexend Semi Bold" pitchFamily="34" charset="0"/>
                <a:ea typeface="Lexend Semi Bold" pitchFamily="34" charset="-122"/>
                <a:cs typeface="Lexend Semi Bold" pitchFamily="34" charset="-120"/>
              </a:rPr>
              <a:t>Hidden Elements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268022" y="2634734"/>
            <a:ext cx="115685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E699E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Hide specific content on smaller screens to reduce clutter and improve readability.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732014"/>
            <a:ext cx="1134070" cy="18145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268022" y="39588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E699E"/>
                </a:solidFill>
                <a:latin typeface="Lexend Semi Bold" pitchFamily="34" charset="0"/>
                <a:ea typeface="Lexend Semi Bold" pitchFamily="34" charset="-122"/>
                <a:cs typeface="Lexend Semi Bold" pitchFamily="34" charset="-120"/>
              </a:rPr>
              <a:t>Stacked Columns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2268022" y="4449247"/>
            <a:ext cx="115685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E699E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Stack columns vertically on smaller screens to optimize space and readability.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546527"/>
            <a:ext cx="1134070" cy="181451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268022" y="57733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E699E"/>
                </a:solidFill>
                <a:latin typeface="Lexend Semi Bold" pitchFamily="34" charset="0"/>
                <a:ea typeface="Lexend Semi Bold" pitchFamily="34" charset="-122"/>
                <a:cs typeface="Lexend Semi Bold" pitchFamily="34" charset="-120"/>
              </a:rPr>
              <a:t>Image Resizing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2268022" y="6263759"/>
            <a:ext cx="115685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E699E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Adjust image sizes based on screen width to maintain aspect ratio and optimize loading times.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72145"/>
            <a:ext cx="894861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434343"/>
                </a:solidFill>
                <a:latin typeface="Lexend Semi Bold" pitchFamily="34" charset="0"/>
                <a:ea typeface="Lexend Semi Bold" pitchFamily="34" charset="-122"/>
                <a:cs typeface="Lexend Semi Bold" pitchFamily="34" charset="-120"/>
              </a:rPr>
              <a:t>Customizing Bootstrap Layouts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348" y="2134553"/>
            <a:ext cx="2152055" cy="16698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77521" y="2959179"/>
            <a:ext cx="15359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exend Semi Bold" pitchFamily="34" charset="0"/>
                <a:ea typeface="Lexend Semi Bold" pitchFamily="34" charset="-122"/>
                <a:cs typeface="Lexend Semi Bold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357217" y="23613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E699E"/>
                </a:solidFill>
                <a:latin typeface="Lexend Semi Bold" pitchFamily="34" charset="0"/>
                <a:ea typeface="Lexend Semi Bold" pitchFamily="34" charset="-122"/>
                <a:cs typeface="Lexend Semi Bold" pitchFamily="34" charset="-120"/>
              </a:rPr>
              <a:t>CSS Classes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57217" y="2851785"/>
            <a:ext cx="825257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E699E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Utilize Bootstrap's predefined CSS classes to easily modify layout, spacing, and alignment.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187077" y="3817501"/>
            <a:ext cx="8592860" cy="15240"/>
          </a:xfrm>
          <a:prstGeom prst="roundRect">
            <a:avLst>
              <a:gd name="adj" fmla="val 625116"/>
            </a:avLst>
          </a:prstGeom>
          <a:solidFill>
            <a:srgbClr val="B2C2E5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381" y="3861078"/>
            <a:ext cx="4304109" cy="16698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76687" y="4469249"/>
            <a:ext cx="155377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exend Semi Bold" pitchFamily="34" charset="0"/>
                <a:ea typeface="Lexend Semi Bold" pitchFamily="34" charset="-122"/>
                <a:cs typeface="Lexend Semi Bold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6433304" y="40878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E699E"/>
                </a:solidFill>
                <a:latin typeface="Lexend Semi Bold" pitchFamily="34" charset="0"/>
                <a:ea typeface="Lexend Semi Bold" pitchFamily="34" charset="-122"/>
                <a:cs typeface="Lexend Semi Bold" pitchFamily="34" charset="-120"/>
              </a:rPr>
              <a:t>Custom CSS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433304" y="4578310"/>
            <a:ext cx="717649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E699E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Write custom CSS rules to override default Bootstrap styles and create unique layouts.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6263164" y="5544026"/>
            <a:ext cx="7516773" cy="15240"/>
          </a:xfrm>
          <a:prstGeom prst="roundRect">
            <a:avLst>
              <a:gd name="adj" fmla="val 625116"/>
            </a:avLst>
          </a:prstGeom>
          <a:solidFill>
            <a:srgbClr val="B2C2E5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294" y="5587603"/>
            <a:ext cx="6456164" cy="166985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973354" y="6195774"/>
            <a:ext cx="161806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exend Semi Bold" pitchFamily="34" charset="0"/>
                <a:ea typeface="Lexend Semi Bold" pitchFamily="34" charset="-122"/>
                <a:cs typeface="Lexend Semi Bold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7509272" y="58144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E699E"/>
                </a:solidFill>
                <a:latin typeface="Lexend Semi Bold" pitchFamily="34" charset="0"/>
                <a:ea typeface="Lexend Semi Bold" pitchFamily="34" charset="-122"/>
                <a:cs typeface="Lexend Semi Bold" pitchFamily="34" charset="-120"/>
              </a:rPr>
              <a:t>JavaScript Plugins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09272" y="6304836"/>
            <a:ext cx="610052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E699E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Integrate Bootstrap JavaScript plugins for advanced interactive elements and responsive behaviors.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96923"/>
            <a:ext cx="735937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434343"/>
                </a:solidFill>
                <a:latin typeface="Lexend Semi Bold" pitchFamily="34" charset="0"/>
                <a:ea typeface="Lexend Semi Bold" pitchFamily="34" charset="-122"/>
                <a:cs typeface="Lexend Semi Bold" pitchFamily="34" charset="-120"/>
              </a:rPr>
              <a:t>Responsive Best Practices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259330"/>
            <a:ext cx="2173724" cy="1306949"/>
          </a:xfrm>
          <a:prstGeom prst="roundRect">
            <a:avLst>
              <a:gd name="adj" fmla="val 7289"/>
            </a:avLst>
          </a:prstGeom>
          <a:solidFill>
            <a:srgbClr val="CCDCFF"/>
          </a:solidFill>
          <a:ln w="7620">
            <a:solidFill>
              <a:srgbClr val="B2C2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2686050"/>
            <a:ext cx="15359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exend Semi Bold" pitchFamily="34" charset="0"/>
                <a:ea typeface="Lexend Semi Bold" pitchFamily="34" charset="-122"/>
                <a:cs typeface="Lexend Semi Bold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194328" y="2486144"/>
            <a:ext cx="31632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E699E"/>
                </a:solidFill>
                <a:latin typeface="Lexend Semi Bold" pitchFamily="34" charset="0"/>
                <a:ea typeface="Lexend Semi Bold" pitchFamily="34" charset="-122"/>
                <a:cs typeface="Lexend Semi Bold" pitchFamily="34" charset="-120"/>
              </a:rPr>
              <a:t>Mobile-First Approach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194328" y="2976563"/>
            <a:ext cx="828579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E699E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Start with a mobile layout and progressively enhance it for larger screens.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3080861" y="3551039"/>
            <a:ext cx="10642402" cy="15240"/>
          </a:xfrm>
          <a:prstGeom prst="roundRect">
            <a:avLst>
              <a:gd name="adj" fmla="val 625116"/>
            </a:avLst>
          </a:prstGeom>
          <a:solidFill>
            <a:srgbClr val="B2C2E5"/>
          </a:solidFill>
          <a:ln/>
        </p:spPr>
      </p:sp>
      <p:sp>
        <p:nvSpPr>
          <p:cNvPr id="8" name="Shape 6"/>
          <p:cNvSpPr/>
          <p:nvPr/>
        </p:nvSpPr>
        <p:spPr>
          <a:xfrm>
            <a:off x="793790" y="3679627"/>
            <a:ext cx="4347567" cy="1669852"/>
          </a:xfrm>
          <a:prstGeom prst="roundRect">
            <a:avLst>
              <a:gd name="adj" fmla="val 5705"/>
            </a:avLst>
          </a:prstGeom>
          <a:solidFill>
            <a:srgbClr val="CCDCFF"/>
          </a:solidFill>
          <a:ln w="7620">
            <a:solidFill>
              <a:srgbClr val="B2C2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8224" y="4287798"/>
            <a:ext cx="155377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exend Semi Bold" pitchFamily="34" charset="0"/>
                <a:ea typeface="Lexend Semi Bold" pitchFamily="34" charset="-122"/>
                <a:cs typeface="Lexend Semi Bold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368171" y="39064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E699E"/>
                </a:solidFill>
                <a:latin typeface="Lexend Semi Bold" pitchFamily="34" charset="0"/>
                <a:ea typeface="Lexend Semi Bold" pitchFamily="34" charset="-122"/>
                <a:cs typeface="Lexend Semi Bold" pitchFamily="34" charset="-120"/>
              </a:rPr>
              <a:t>Semantic HTML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368171" y="4396859"/>
            <a:ext cx="824162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E699E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Use semantic HTML tags to enhance accessibility and readability for screen readers.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5254704" y="5334238"/>
            <a:ext cx="8468558" cy="15240"/>
          </a:xfrm>
          <a:prstGeom prst="roundRect">
            <a:avLst>
              <a:gd name="adj" fmla="val 625116"/>
            </a:avLst>
          </a:prstGeom>
          <a:solidFill>
            <a:srgbClr val="B2C2E5"/>
          </a:solidFill>
          <a:ln/>
        </p:spPr>
      </p:sp>
      <p:sp>
        <p:nvSpPr>
          <p:cNvPr id="13" name="Shape 11"/>
          <p:cNvSpPr/>
          <p:nvPr/>
        </p:nvSpPr>
        <p:spPr>
          <a:xfrm>
            <a:off x="793790" y="5462826"/>
            <a:ext cx="6521410" cy="1669852"/>
          </a:xfrm>
          <a:prstGeom prst="roundRect">
            <a:avLst>
              <a:gd name="adj" fmla="val 5705"/>
            </a:avLst>
          </a:prstGeom>
          <a:solidFill>
            <a:srgbClr val="CCDCFF"/>
          </a:solidFill>
          <a:ln w="7620">
            <a:solidFill>
              <a:srgbClr val="B2C2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8224" y="6070997"/>
            <a:ext cx="161806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exend Semi Bold" pitchFamily="34" charset="0"/>
                <a:ea typeface="Lexend Semi Bold" pitchFamily="34" charset="-122"/>
                <a:cs typeface="Lexend Semi Bold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542014" y="5689640"/>
            <a:ext cx="320528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E699E"/>
                </a:solidFill>
                <a:latin typeface="Lexend Semi Bold" pitchFamily="34" charset="0"/>
                <a:ea typeface="Lexend Semi Bold" pitchFamily="34" charset="-122"/>
                <a:cs typeface="Lexend Semi Bold" pitchFamily="34" charset="-120"/>
              </a:rPr>
              <a:t>Testing Across Devices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542014" y="6180058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E699E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Test your website on a variety of devices and screen sizes to ensure optimal performance.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494</Words>
  <Application>Microsoft Office PowerPoint</Application>
  <PresentationFormat>Custom</PresentationFormat>
  <Paragraphs>70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Lexend Bold</vt:lpstr>
      <vt:lpstr>Lexend Medium</vt:lpstr>
      <vt:lpstr>Arial</vt:lpstr>
      <vt:lpstr>Lexend Semi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Nijas Khan</cp:lastModifiedBy>
  <cp:revision>2</cp:revision>
  <dcterms:created xsi:type="dcterms:W3CDTF">2025-01-10T15:04:02Z</dcterms:created>
  <dcterms:modified xsi:type="dcterms:W3CDTF">2025-01-10T15:13:16Z</dcterms:modified>
</cp:coreProperties>
</file>